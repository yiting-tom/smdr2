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這是 backup 附錄頁，主簡報嚴格 6 頁、此頁獨立檔。</a:t>
            </a:r>
          </a:p>
          <a:p>
            <a:r>
              <a:t>用途：P4 決策帶只放 4 條精簡版；評審若深問『哪些採用哪些否決、怎麼討論』就切到這張完整 7 列表逐列講。</a:t>
            </a:r>
          </a:p>
          <a:p>
            <a:r>
              <a:t>字級：理由欄為求容納 7 列降到 10.5pt（低於 12pt 規範）——僅作 backup 參考，不要當正式 6 頁之一。若要併入主簡報需精簡列數放大字級。</a:t>
            </a:r>
          </a:p>
          <a:p>
            <a:r>
              <a:t>誠實：commit hash(77e8832/fffd30e/13f179f/9db06a6→c4df21d)、Decision 8、SEC-001 皆 repo 實證；17,482 / 6000 / 20000 球與時間數字來自 design.md／專案備忘的實測記述，非現場重跑。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457200"/>
            <a:ext cx="2103120" cy="420624"/>
          </a:xfrm>
          <a:prstGeom prst="roundRect">
            <a:avLst>
              <a:gd name="adj" fmla="val 50000"/>
            </a:avLst>
          </a:prstGeom>
          <a:solidFill>
            <a:srgbClr val="5C6B8A"/>
          </a:solidFill>
          <a:ln>
            <a:noFill/>
          </a:ln>
          <a:effectLst/>
          <a:effectLst>
            <a:outerShdw blurRad="55000" dist="20000" dir="5400000" rotWithShape="0">
              <a:srgbClr val="2A3A55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48056"/>
            <a:ext cx="210312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附錄</a:t>
            </a:r>
            <a:r>
              <a:rPr sz="1100" b="1" i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APPENDIX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950976"/>
            <a:ext cx="8595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6213A"/>
                </a:solidFill>
                <a:latin typeface="PingFang TC"/>
                <a:ea typeface="PingFang TC"/>
                <a:cs typeface="PingFang TC"/>
              </a:rPr>
              <a:t>採用／否決 決策日誌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17904"/>
            <a:ext cx="8778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5C6B8A"/>
                </a:solidFill>
                <a:latin typeface="PingFang TC"/>
                <a:ea typeface="PingFang TC"/>
                <a:cs typeface="PingFang TC"/>
              </a:rPr>
              <a:t>AI-proposed / human-decided log（backup，不計入 6 頁）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439326" y="564367"/>
            <a:ext cx="151424" cy="151424"/>
          </a:xfrm>
          <a:prstGeom prst="roundRect">
            <a:avLst>
              <a:gd name="adj" fmla="val 20000"/>
            </a:avLst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370198" y="495239"/>
            <a:ext cx="105338" cy="27980"/>
          </a:xfrm>
          <a:prstGeom prst="rect">
            <a:avLst/>
          </a:prstGeom>
          <a:solidFill>
            <a:srgbClr val="1620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370198" y="495239"/>
            <a:ext cx="27980" cy="105338"/>
          </a:xfrm>
          <a:prstGeom prst="rect">
            <a:avLst/>
          </a:prstGeom>
          <a:solidFill>
            <a:srgbClr val="1620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554541" y="756940"/>
            <a:ext cx="105338" cy="27980"/>
          </a:xfrm>
          <a:prstGeom prst="rect">
            <a:avLst/>
          </a:prstGeom>
          <a:solidFill>
            <a:srgbClr val="1620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631899" y="679582"/>
            <a:ext cx="27980" cy="105338"/>
          </a:xfrm>
          <a:prstGeom prst="rect">
            <a:avLst/>
          </a:prstGeom>
          <a:solidFill>
            <a:srgbClr val="1620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59775" y="420624"/>
            <a:ext cx="2990088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300" b="1" i="0">
                <a:solidFill>
                  <a:srgbClr val="16213A"/>
                </a:solidFill>
                <a:latin typeface="PingFang TC"/>
                <a:ea typeface="PingFang TC"/>
                <a:cs typeface="PingFang TC"/>
              </a:rPr>
              <a:t>尋形 Conform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59775" y="713232"/>
            <a:ext cx="2990088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C6B8A"/>
                </a:solidFill>
                <a:latin typeface="Menlo"/>
                <a:ea typeface="Menlo"/>
                <a:cs typeface="Menlo"/>
              </a:rPr>
              <a:t>01 / 06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1828800"/>
            <a:ext cx="11094415" cy="12801"/>
          </a:xfrm>
          <a:prstGeom prst="rect">
            <a:avLst/>
          </a:prstGeom>
          <a:solidFill>
            <a:srgbClr val="DCE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59775" y="713232"/>
            <a:ext cx="2990088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C6B8A"/>
                </a:solidFill>
                <a:latin typeface="Menlo"/>
                <a:ea typeface="Menlo"/>
                <a:cs typeface="Menlo"/>
              </a:rPr>
              <a:t>BACKUP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1938528"/>
            <a:ext cx="11274552" cy="420624"/>
          </a:xfrm>
          <a:prstGeom prst="roundRect">
            <a:avLst>
              <a:gd name="adj" fmla="val 10000"/>
            </a:avLst>
          </a:prstGeom>
          <a:solidFill>
            <a:srgbClr val="1620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" y="1938528"/>
            <a:ext cx="1664208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改進主題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95728" y="1938528"/>
            <a:ext cx="1847088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Claude 建議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07408" y="1938528"/>
            <a:ext cx="1133856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我的決定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705856" y="1938528"/>
            <a:ext cx="3794759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我們怎麼討論／理由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65207" y="1938528"/>
            <a:ext cx="201168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結果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2404872"/>
            <a:ext cx="11274552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DC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66928" y="2404872"/>
            <a:ext cx="164592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162039"/>
                </a:solidFill>
                <a:latin typeface="PingFang TC"/>
                <a:ea typeface="PingFang TC"/>
                <a:cs typeface="PingFang TC"/>
              </a:rPr>
              <a:t>同半徑 BGA 球 vs 對位點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95728" y="2404872"/>
            <a:ext cx="182880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1F2D45"/>
                </a:solidFill>
                <a:latin typeface="PingFang TC"/>
                <a:ea typeface="PingFang TC"/>
                <a:cs typeface="PingFang TC"/>
              </a:rPr>
              <a:t>鄰域密度仲裁（自動推 pitch、鄰居數分類）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89120" y="2404872"/>
            <a:ext cx="1170431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43F5E"/>
                </a:solidFill>
                <a:latin typeface="PingFang TC"/>
                <a:ea typeface="PingFang TC"/>
                <a:cs typeface="PingFang TC"/>
              </a:rPr>
              <a:t>後來推翻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705856" y="2404872"/>
            <a:ext cx="3776471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050" b="0" i="0">
                <a:solidFill>
                  <a:srgbClr val="1F2D45"/>
                </a:solidFill>
                <a:latin typeface="PingFang TC"/>
                <a:ea typeface="PingFang TC"/>
                <a:cs typeface="PingFang TC"/>
              </a:rPr>
              <a:t>初期採用（無參數）；產線 17,482 球大陣列整批誤判成 Fiducial、合成案重現不出 → 不追不可重現的啟發式 bug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65207" y="2404872"/>
            <a:ext cx="199339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0E7490"/>
                </a:solidFill>
                <a:latin typeface="PingFang TC"/>
                <a:ea typeface="PingFang TC"/>
                <a:cs typeface="PingFang TC"/>
              </a:rPr>
              <a:t>改用視圖約束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2935224"/>
            <a:ext cx="11274552" cy="530352"/>
          </a:xfrm>
          <a:prstGeom prst="rect">
            <a:avLst/>
          </a:prstGeom>
          <a:solidFill>
            <a:srgbClr val="EEF2F8"/>
          </a:solidFill>
          <a:ln w="6350">
            <a:solidFill>
              <a:srgbClr val="DC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66928" y="2935224"/>
            <a:ext cx="164592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162039"/>
                </a:solidFill>
                <a:latin typeface="PingFang TC"/>
                <a:ea typeface="PingFang TC"/>
                <a:cs typeface="PingFang TC"/>
              </a:rPr>
              <a:t>替代分類規則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395728" y="2935224"/>
            <a:ext cx="182880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1F2D45"/>
                </a:solidFill>
                <a:latin typeface="PingFang TC"/>
                <a:ea typeface="PingFang TC"/>
                <a:cs typeface="PingFang TC"/>
              </a:rPr>
              <a:t>互斥視圖判定（BGA=底視圖、Fiducial=頂視圖）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89120" y="2935224"/>
            <a:ext cx="1170431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2A8F5F"/>
                </a:solidFill>
                <a:latin typeface="PingFang TC"/>
                <a:ea typeface="PingFang TC"/>
                <a:cs typeface="PingFang TC"/>
              </a:rPr>
              <a:t>採用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705856" y="2935224"/>
            <a:ext cx="3776471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050" b="0" i="0">
                <a:solidFill>
                  <a:srgbClr val="1F2D45"/>
                </a:solidFill>
                <a:latin typeface="PingFang TC"/>
                <a:ea typeface="PingFang TC"/>
                <a:cs typeface="PingFang TC"/>
              </a:rPr>
              <a:t>確定性、operator 看得懂、免疫密度 edge case；明確否決「保留密度群當保險」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65207" y="2935224"/>
            <a:ext cx="199339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0E7490"/>
                </a:solidFill>
                <a:latin typeface="PingFang TC"/>
                <a:ea typeface="PingFang TC"/>
                <a:cs typeface="PingFang TC"/>
              </a:rPr>
              <a:t>上線穩定（77e8832）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" y="3465576"/>
            <a:ext cx="11274552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DC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66928" y="3465576"/>
            <a:ext cx="164592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162039"/>
                </a:solidFill>
                <a:latin typeface="PingFang TC"/>
                <a:ea typeface="PingFang TC"/>
                <a:cs typeface="PingFang TC"/>
              </a:rPr>
              <a:t>失效仲裁子系統去留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95728" y="3465576"/>
            <a:ext cx="182880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1F2D45"/>
                </a:solidFill>
                <a:latin typeface="PingFang TC"/>
                <a:ea typeface="PingFang TC"/>
                <a:cs typeface="PingFang TC"/>
              </a:rPr>
              <a:t>保留 arbitrate() 當未來骨架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389120" y="3465576"/>
            <a:ext cx="1170431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59E0B"/>
                </a:solidFill>
                <a:latin typeface="PingFang TC"/>
                <a:ea typeface="PingFang TC"/>
                <a:cs typeface="PingFang TC"/>
              </a:rPr>
              <a:t>改寫（YAGNI 刪）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705856" y="3465576"/>
            <a:ext cx="3776471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050" b="0" i="0">
                <a:solidFill>
                  <a:srgbClr val="1F2D45"/>
                </a:solidFill>
                <a:latin typeface="PingFang TC"/>
                <a:ea typeface="PingFang TC"/>
                <a:cs typeface="PingFang TC"/>
              </a:rPr>
              <a:t>視圖約束讓 registry 清空、call site 全成 pass-through → 可達但無作用的死碼，直接刪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65207" y="3465576"/>
            <a:ext cx="199339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0E7490"/>
                </a:solidFill>
                <a:latin typeface="PingFang TC"/>
                <a:ea typeface="PingFang TC"/>
                <a:cs typeface="PingFang TC"/>
              </a:rPr>
              <a:t>子系統移除（fffd30e）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7200" y="3995928"/>
            <a:ext cx="11274552" cy="530352"/>
          </a:xfrm>
          <a:prstGeom prst="rect">
            <a:avLst/>
          </a:prstGeom>
          <a:solidFill>
            <a:srgbClr val="EEF2F8"/>
          </a:solidFill>
          <a:ln w="6350">
            <a:solidFill>
              <a:srgbClr val="DC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66928" y="3995928"/>
            <a:ext cx="164592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162039"/>
                </a:solidFill>
                <a:latin typeface="PingFang TC"/>
                <a:ea typeface="PingFang TC"/>
                <a:cs typeface="PingFang TC"/>
              </a:rPr>
              <a:t>含括重複比對抑制效能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395728" y="3995928"/>
            <a:ext cx="182880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1F2D45"/>
                </a:solidFill>
                <a:latin typeface="PingFang TC"/>
                <a:ea typeface="PingFang TC"/>
                <a:cs typeface="PingFang TC"/>
              </a:rPr>
              <a:t>每類 pairwise 掃描，design 判 O(M²)「便宜」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389120" y="3995928"/>
            <a:ext cx="1170431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59E0B"/>
                </a:solidFill>
                <a:latin typeface="PingFang TC"/>
                <a:ea typeface="PingFang TC"/>
                <a:cs typeface="PingFang TC"/>
              </a:rPr>
              <a:t>採用後修正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705856" y="3995928"/>
            <a:ext cx="3776471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050" b="0" i="0">
                <a:solidFill>
                  <a:srgbClr val="1F2D45"/>
                </a:solidFill>
                <a:latin typeface="PingFang TC"/>
                <a:ea typeface="PingFang TC"/>
                <a:cs typeface="PingFang TC"/>
              </a:rPr>
              <a:t>上線打臉：20k 球單這步 20s+ → 換 inverted handle-index（X 的超集必含 X 全部 handle），近線性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665207" y="3995928"/>
            <a:ext cx="199339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0E7490"/>
                </a:solidFill>
                <a:latin typeface="PingFang TC"/>
                <a:ea typeface="PingFang TC"/>
                <a:cs typeface="PingFang TC"/>
              </a:rPr>
              <a:t>6000 球 2.0s→8ms（13f179f）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57200" y="4526280"/>
            <a:ext cx="11274552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DC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66928" y="4526280"/>
            <a:ext cx="164592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162039"/>
                </a:solidFill>
                <a:latin typeface="PingFang TC"/>
                <a:ea typeface="PingFang TC"/>
                <a:cs typeface="PingFang TC"/>
              </a:rPr>
              <a:t>多 DXF 一角色的 view 維度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395728" y="4526280"/>
            <a:ext cx="182880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1F2D45"/>
                </a:solidFill>
                <a:latin typeface="PingFang TC"/>
                <a:ea typeface="PingFang TC"/>
                <a:cs typeface="PingFang TC"/>
              </a:rPr>
              <a:t>引入 dxf_view enum，正交於設計角色（Decision 1-7）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389120" y="4526280"/>
            <a:ext cx="1170431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43F5E"/>
                </a:solidFill>
                <a:latin typeface="PingFang TC"/>
                <a:ea typeface="PingFang TC"/>
                <a:cs typeface="PingFang TC"/>
              </a:rPr>
              <a:t>後來推翻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705856" y="4526280"/>
            <a:ext cx="3776471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050" b="0" i="0">
                <a:solidFill>
                  <a:srgbClr val="1F2D45"/>
                </a:solidFill>
                <a:latin typeface="PingFang TC"/>
                <a:ea typeface="PingFang TC"/>
                <a:cs typeface="PingFang TC"/>
              </a:rPr>
              <a:t>Decision 8 簡化轉向：使用者回饋主流程是一檔含 top/bottom/side region，分割軸未必對齊 → enum 是 over-fit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665207" y="4526280"/>
            <a:ext cx="199339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0E7490"/>
                </a:solidFill>
                <a:latin typeface="PingFang TC"/>
                <a:ea typeface="PingFang TC"/>
                <a:cs typeface="PingFang TC"/>
              </a:rPr>
              <a:t>全檔 multi，欄位 vestigial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57200" y="5056632"/>
            <a:ext cx="11274552" cy="530352"/>
          </a:xfrm>
          <a:prstGeom prst="rect">
            <a:avLst/>
          </a:prstGeom>
          <a:solidFill>
            <a:srgbClr val="EEF2F8"/>
          </a:solidFill>
          <a:ln w="6350">
            <a:solidFill>
              <a:srgbClr val="DC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66928" y="5056632"/>
            <a:ext cx="164592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162039"/>
                </a:solidFill>
                <a:latin typeface="PingFang TC"/>
                <a:ea typeface="PingFang TC"/>
                <a:cs typeface="PingFang TC"/>
              </a:rPr>
              <a:t>基板比對策略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395728" y="5056632"/>
            <a:ext cx="182880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1F2D45"/>
                </a:solidFill>
                <a:latin typeface="PingFang TC"/>
                <a:ea typeface="PingFang TC"/>
                <a:cs typeface="PingFang TC"/>
              </a:rPr>
              <a:t>新增 per-class match_strategy（chamfer/signature）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389120" y="5056632"/>
            <a:ext cx="1170431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2A8F5F"/>
                </a:solidFill>
                <a:latin typeface="PingFang TC"/>
                <a:ea typeface="PingFang TC"/>
                <a:cs typeface="PingFang TC"/>
              </a:rPr>
              <a:t>採用（取代被否決路徑）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705856" y="5056632"/>
            <a:ext cx="3776471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050" b="0" i="0">
                <a:solidFill>
                  <a:srgbClr val="1F2D45"/>
                </a:solidFill>
                <a:latin typeface="PingFang TC"/>
                <a:ea typeface="PingFang TC"/>
                <a:cs typeface="PingFang TC"/>
              </a:rPr>
              <a:t>前案 per-class tolerance 已 revert（9db06a6→c4df21d）：tolerance 橋不過固定 ±20% pre-filter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665207" y="5056632"/>
            <a:ext cx="199339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0E7490"/>
                </a:solidFill>
                <a:latin typeface="PingFang TC"/>
                <a:ea typeface="PingFang TC"/>
                <a:cs typeface="PingFang TC"/>
              </a:rPr>
              <a:t>match_strategy 正式取代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57200" y="5586984"/>
            <a:ext cx="11274552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DC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66928" y="5586984"/>
            <a:ext cx="164592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162039"/>
                </a:solidFill>
                <a:latin typeface="PingFang TC"/>
                <a:ea typeface="PingFang TC"/>
                <a:cs typeface="PingFang TC"/>
              </a:rPr>
              <a:t>上傳上限 SEC-001 預檢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2395728" y="5586984"/>
            <a:ext cx="182880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1F2D45"/>
                </a:solidFill>
                <a:latin typeface="PingFang TC"/>
                <a:ea typeface="PingFang TC"/>
                <a:cs typeface="PingFang TC"/>
              </a:rPr>
              <a:t>加請求層 Content-Length 預檢，buffer 前拒絕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389120" y="5586984"/>
            <a:ext cx="1170431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5C6B8A"/>
                </a:solidFill>
                <a:latin typeface="PingFang TC"/>
                <a:ea typeface="PingFang TC"/>
                <a:cs typeface="PingFang TC"/>
              </a:rPr>
              <a:t>延後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705856" y="5586984"/>
            <a:ext cx="3776471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050" b="0" i="0">
                <a:solidFill>
                  <a:srgbClr val="1F2D45"/>
                </a:solidFill>
                <a:latin typeface="PingFang TC"/>
                <a:ea typeface="PingFang TC"/>
                <a:cs typeface="PingFang TC"/>
              </a:rPr>
              <a:t>multipart 的 Content-Length 涵蓋整個 body 非單檔，FastAPI 無 per-part length；對內部信任使用者邊際價值低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665207" y="5586984"/>
            <a:ext cx="199339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0E7490"/>
                </a:solidFill>
                <a:latin typeface="PingFang TC"/>
                <a:ea typeface="PingFang TC"/>
                <a:cs typeface="PingFang TC"/>
              </a:rPr>
              <a:t>緩衝後 len() 為權威防線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457200" y="6208776"/>
            <a:ext cx="11274552" cy="457200"/>
          </a:xfrm>
          <a:prstGeom prst="roundRect">
            <a:avLst>
              <a:gd name="adj" fmla="val 12000"/>
            </a:avLst>
          </a:prstGeom>
          <a:solidFill>
            <a:srgbClr val="FDF0DB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40080" y="6208776"/>
            <a:ext cx="1090879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8A5906"/>
                </a:solidFill>
                <a:latin typeface="PingFang TC"/>
                <a:ea typeface="PingFang TC"/>
                <a:cs typeface="PingFang TC"/>
              </a:rPr>
              <a:t>主軸：「AI 提案，工程判斷把關——每個採用都附一個被我否決的替代方案」。錨點均經 git/reflog 核對；效能絕對數字以 design.md／專案備忘為準，非現場 benchmark。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