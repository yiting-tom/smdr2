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0:00–0:20（20 秒）</a:t>
            </a:r>
          </a:p>
          <a:p>
            <a:r>
              <a:t>開場一句自我介紹＋一句產品定義：『尋形 Conform——在先進封裝的 DXF 圖紙上，框選一個圖樣，系統找出所有同形實例並自動跑設計規則檢查。』</a:t>
            </a:r>
          </a:p>
          <a:p>
            <a:r>
              <a:t>指一下三個數字當 hook（480→1、100% 覆蓋、82 萬實體秒級），細節後面每頁展開，這頁不停留。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0:20–1:05（45 秒）</a:t>
            </a:r>
          </a:p>
          <a:p>
            <a:r>
              <a:t>開場一句把嚴重性與『物理限制』框定：先進封裝漏檢後果嚴重；舊流程的三個限制不是『慢』，是結構性的——人力(6人&gt;10天)、抽樣(看不完→會漏)、授權(僅4套AutoCAD併發，全隊序列化)。收尾關鍵句：這三個瓶頸只靠加人或加班解不開，必須換做法。下一頁帶出 尋形 Conform 的解。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1:05–1:50（45 秒）</a:t>
            </a:r>
          </a:p>
          <a:p>
            <a:r>
              <a:t>用一個 operator 的一天講工作流程：上傳 DXF → 系統前處理渲染 → 框選一個圖樣 → 即時看到全部同形被標記 → 確認入庫 → 規則引擎跑 100+ 條檢查直出報告。</a:t>
            </a:r>
          </a:p>
          <a:p>
            <a:r>
              <a:t>兩個賣點各一句：(1) 零學習成本——互動完全仿 AutoCAD（中鍵平移、window/crossing 框選），驗證工程師零遷移成本；(2) 範本庫飛輪——確認過的圖樣進庫（現有 50+ 範本），新圖一鍵 scan-all，教一次、之後全自動。</a:t>
            </a:r>
          </a:p>
          <a:p>
            <a:r>
              <a:t>收尾一句設 hook：閉環成立的前提是第③步能在 82 萬實體裡秒級找同形——轉下一頁演算法。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1:50–2:50（60 秒）——演算法 + 複雜度 + 天文學靈感頁。</a:t>
            </a:r>
          </a:p>
          <a:p>
            <a:r>
              <a:t>先把問題講成幾何模式比對：在一張 DXF（N≈820,212 個實體）裡，找某個框選圖樣的『全部同形實例』。</a:t>
            </a:r>
          </a:p>
          <a:p>
            <a:r>
              <a:t>暴力解 O(N²·k)：遍歷每個 entity 兩兩比較是 O(N²)；又因 query pattern 最多由 k=120 個 entity 組成、每個都要比 → 再 ×k → O(N²·k)。真實 DXF N≈820,212、k≤120 → 量級 ≈ 8.1×10¹³ 次／每個模板，每次還要旋轉對位＋容差比對，遍歷下完全跑不完（8.1×10¹³ 是 O(N²·k) 量級估算示意，N 取自真實 DXF、k 為目前 pattern 上限）。</a:t>
            </a:r>
          </a:p>
          <a:p>
            <a:r>
              <a:t>遍歷時間重新估算：單核以 ~10⁷–10⁸ 次/秒（含對位＋容差的複合比較）計，8.1×10¹³ 次 ≈ 8.1×10⁶–8.1×10⁵ 秒 ≈ 數週～數月；對照尋形 Conform 經簽章 gate + cKDTree 剪枝後為互動式秒級（吞吐假設依單次比較成本而定，為量級估算非現場 benchmark）。</a:t>
            </a:r>
          </a:p>
          <a:p>
            <a:r>
              <a:t>靈感（口述可展開）：天文學家找星系／星團／星雲不是逐顆星互比，而是用對旋轉/縮放/平移不變的幾何特徵『簽章』描述結構、丟進空間索引先定位候選天區、再只對倖存者做精確比對——例如 astrometry.net 用 4 星 quad 的幾何 hash 做 blind plate-solving（對 平移/旋轉/縮放/鏡射 不變），friends-of-friends 用連結長度分群找星團。</a:t>
            </a:r>
          </a:p>
          <a:p>
            <a:r>
              <a:t>尋形 Conform 把同一套思路搬到 DXF：同形圖樣＝一個星座，整張圖＝一片星空。</a:t>
            </a:r>
          </a:p>
          <a:p>
            <a:r>
              <a:t>演算法五步：①幾何簽章 gate（旋轉/鏡像/縮放不變）剪掉絕大多數候選 → ②cKDTree 空間索引 O(log N) 鄰域 → ③PCA 主軸對位＋4 個鏡射/旋轉 sign-variant 取最佳（Procrustes 式對齊）→ ④對稱 chamfer 評分容差 → ⑤inverted-index 內含抑制。</a:t>
            </a:r>
          </a:p>
          <a:p>
            <a:r>
              <a:t>效能：比對掃描 O(N²·k) 遍歷（單核估算數週～數月）→ 經簽章 gate + cKDTree 空間索引剪枝到近線性、互動式秒級回應。（內含抑制 20s→8ms 是另一後處理步、見 P5；皆為 design.md／備忘的實測或量級估算，非現場 benchmark。）</a:t>
            </a:r>
          </a:p>
          <a:p>
            <a:r>
              <a:t>誠實措辭：astrometry.net / friends-of-friends 是『同類方法』的類比，用來說明思路，非本專案直接套用其程式庫；本專案實作為自寫的 signature gate + scipy cKDTree + PCA 主軸對位/sign-variant 擇優/對稱 chamfer + inverted index（matcher 為 Procrustes 式對位，未跑 SVD-based Kabsch）。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2:50–4:05（75 秒）——★ 最高權重(40%)的核心頁，講最久。</a:t>
            </a:r>
          </a:p>
          <a:p>
            <a:r>
              <a:t>頭條：6 人 × 10 天 → 1 人 × 1 小時（含操作 + 100+ 條自動化檢查）。換算約 480 工程師小時 → 1，約 1/480。</a:t>
            </a:r>
          </a:p>
          <a:p>
            <a:r>
              <a:t>三列對比表逐列講：(1)人力工時；(2)覆蓋率——這是最防守得住的一句：從抽樣變 100% 全 entity，再加 100+ 條自動化條件檢查，『漏檢』從機率問題變成不可能，這是品質的階躍不只是加速；(3)併發/吞吐——多圖同時處理，不被單一張圖紙的檢驗卡住，且不再受 4 套 AutoCAD 授權序列化。</a:t>
            </a:r>
          </a:p>
          <a:p>
            <a:r>
              <a:t>規模佐證(實測)：真實 DXF 含 820,212 個實體；內含抑制 O(N²)→倒排索引，20s→8ms。</a:t>
            </a:r>
          </a:p>
          <a:p>
            <a:r>
              <a:t>誠實守則：1 小時是實際運行成效；480× 是換算，被問就說明算法(6×10×8 工時 vs 1 工時)。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4:05–4:40（35 秒）——核心理念頁，給後半場定調。</a:t>
            </a:r>
          </a:p>
          <a:p>
            <a:r>
              <a:t>一句開場：LLM 時代 demo 很便宜，人人都能『做出一個產品』；但『能跑』不等於『對』。寫程式的成本降了，做對產品的成本沒降。</a:t>
            </a:r>
          </a:p>
          <a:p>
            <a:r>
              <a:t>三問三答各一句：(Q1) 符合需求嗎→規格先行，在 proposal/design 紙上吵完才動手；(Q2) 品質怎麼確保→流程強制，契約+測試+真瀏覽器驗證當閘門，不靠宣稱；(Q3) 怎麼讓 AI 更好→給對工具，codegraph 導航/playwright 眼睛/skills 生產線，AI 提案、人把關。</a:t>
            </a:r>
          </a:p>
          <a:p>
            <a:r>
              <a:t>收尾：接下來兩頁就是這三題在本專案的具體實作——轉 P7。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4:40–5:35（55 秒）</a:t>
            </a:r>
          </a:p>
          <a:p>
            <a:r>
              <a:t>口頭講稿(約180字)：我把 Claude 當一位資深工程師，每個提案都拿來質問，不照單全收。</a:t>
            </a:r>
          </a:p>
          <a:p>
            <a:r>
              <a:t>舉真實功能『量測距離工具』：先下 spectra-propose，Claude 產出 proposal、design(10 條編號決策)、tasks 三份文件，我在規格層就審完意圖、便宜地修正方向，而不是事後改 diff。接著 spectra-apply，Claude 用 codegraph 直接跳到 canvas.js 節點、查呼叫關係與改動影響面，不在三千八百行裡盲目 grep；邊實作邊勾 task、自寫測試。前端是 Canvas2D，DOM 看不到像素，所以用 playwright 開真瀏覽器框選、截圖比對 overlay。最後一格永遠標 [USER]——機密客戶 DXF 只由我親驗，Claude 碰不到。驗完下 spectra-archive 自動歸檔並同步規格。兩個月、55 個歸檔功能（34 個進行中），每個都走同一條紀律化迴圈。</a:t>
            </a:r>
          </a:p>
          <a:p/>
          <a:p>
            <a:r>
              <a:t>── 完整採用/否決決策表(評審深問時口述)──</a:t>
            </a:r>
          </a:p>
          <a:p>
            <a:r>
              <a:t>1) 同半徑 BGA vs 對位點：Claude 提密度仲裁→我採用→產線 17,482 球誤判、合成案重現不出→改互斥視圖規則(commit 77e8832)。</a:t>
            </a:r>
          </a:p>
          <a:p>
            <a:r>
              <a:t>2) 失效仲裁子系統：曾主張保留當骨架→我判 YAGNI 死碼，直接刪(fffd30e)。</a:t>
            </a:r>
          </a:p>
          <a:p>
            <a:r>
              <a:t>3) 含括抑制：design 判 O(M²)便宜→20k 球實測 20s+→換 inverted handle-index，6000 球 2.0s→8ms(13f179f)。</a:t>
            </a:r>
          </a:p>
          <a:p>
            <a:r>
              <a:t>4) multi-dxf：先引 dxf_view enum(D1-7)→Decision 8 自我簡化推翻，enum 是 over-fit。</a:t>
            </a:r>
          </a:p>
          <a:p>
            <a:r>
              <a:t>5) 基板比對：per-class tolerance 先 revert(9db06a6→c4df21d)→改 per-class match_strategy。</a:t>
            </a:r>
          </a:p>
          <a:p>
            <a:r>
              <a:t>6) SEC-001 上傳預檢：延後(multipart Content-Length 涵蓋整 body，對內部信任使用者邊際)。</a:t>
            </a:r>
          </a:p>
          <a:p>
            <a:r>
              <a:t>7) 儲存遷移 Postgres/MinIO：ADR 標『討論中、尚未實作』，_jobs 才是多 replica 硬牆。</a:t>
            </a:r>
          </a:p>
          <a:p/>
          <a:p>
            <a:r>
              <a:t>── 誠實措辭 ──</a:t>
            </a:r>
          </a:p>
          <a:p>
            <a:r>
              <a:t>• codegraph 是鐵證(.codegraph/codegraph.db 5.5MB 實建、7 工具預授權)。</a:t>
            </a:r>
          </a:p>
          <a:p>
            <a:r>
              <a:t>• playwright/discord 說『啟用於我的 Claude Code 環境並用於本專案』，不要說『專案檔裡配置』(專案無 .mcp.json)。</a:t>
            </a:r>
          </a:p>
          <a:p>
            <a:r>
              <a:t>• playwright 視覺回歸、discord scan-all 通知是『使用方式』描述，非既存測試套件；被追問誠實說明。</a:t>
            </a:r>
          </a:p>
          <a:p>
            <a:r>
              <a:t>• 絕不可宣稱 Gmail/Calendar/Drive(未接入，config 中反列 OAuth-blocked)。真正三件套：codegraph + playwright + discord。</a:t>
            </a:r>
          </a:p>
          <a:p>
            <a:r>
              <a:t>• RTK 省 ~52% token(4.8M/88k 指令)是全域 hook 分析數據。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5:35–6:25（50 秒）——把 25%+25% 兩個品質軸(程式品質 + 開發流程)合在這頁高密度交代。</a:t>
            </a:r>
          </a:p>
          <a:p>
            <a:r>
              <a:t>左欄：規格驅動——品質是被流程『強制』出來的(10 契約、89 changes、validate 閘門)，不是嘴上說有測試。</a:t>
            </a:r>
          </a:p>
          <a:p>
            <a:r>
              <a:t>右欄：工程硬證據，每條都能翻到對應 file/test(倒排索引、AST 不變量、envelope 驗證、drift-guard)。</a:t>
            </a:r>
          </a:p>
          <a:p>
            <a:r>
              <a:t>中段藍帶：matcher 是技術核心，三條 fast path 由真實生產 bug 逼出(820,212 實體)——強調『bug 驅動，不是紙上設計』。</a:t>
            </a:r>
          </a:p>
          <a:p>
            <a:r>
              <a:t>結尾 callback 呼應 P7 的決策表：spec-driven 讓爭論發生在 design.md，不是 diff 之後。</a:t>
            </a:r>
          </a:p>
          <a:p>
            <a:r>
              <a:t>誠實：605 是 tests/ 下 test 函式數(2026-07-14 重新統計；含參數化展開更多)；前端 canvas 零自動化 UI 測試，被問就框成 roadmap。呼應 P6 三問：左欄=Q1 規格先行、右欄=Q2 流程強制。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6:25–7:00（35 秒）——創新 10% 核心 + 應用廣度收尾。</a:t>
            </a:r>
          </a:p>
          <a:p>
            <a:r>
              <a:t>vs 舊法：一句話講清差異——從人工逐物件抽樣量測，變成框選→比對→規則檢查的閉環，引擎是 class-agnostic 幾何不是封裝寫死。</a:t>
            </a:r>
          </a:p>
          <a:p>
            <a:r>
              <a:t>輻射圖：中央是 尋形 Conform『幾何→規則引擎』，向外是鄰近應用——封裝 DXF 已實作，其餘(PCB Gerber/ODB++、GDSII/OASIS、photomask/MEMS、interposer/RDL)標『可擴展』，誠實不誇大成已做。</a:t>
            </a:r>
          </a:p>
          <a:p>
            <a:r>
              <a:t>底帶第一行是『進行中』的生產化硬化（openspec add-production-infra-and-auth / add-product-versioning / add-signoff-evidence 等 34 個 active changes）——MariaDB 多副本、MinIO、Keycloak SSO 三級權限(admin/editor/viewer × global/customer/product)、一版一庫的產品版本化、簽核存證。措辭用『進行中』，不可說已上線。</a:t>
            </a:r>
          </a:p>
          <a:p>
            <a:r>
              <a:t>底帶第二行：乾淨邊界(adapter + 版本化 bundle)讓 尋形 Conform 可獨立出貨，定位成多個 DRC 後端的通用前端層。</a:t>
            </a:r>
          </a:p>
          <a:p>
            <a:r>
              <a:t>收尾口頭金句可用：『尋形 Conform 不是一個封裝檢查工具，是一層幾何→規則的通用前端。』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7:00–10:00（3 分鐘問答）</a:t>
            </a:r>
          </a:p>
          <a:p>
            <a:r>
              <a:t>停在這頁等提問；一行 recap 讓評審提問時眼前就有核心數字。</a:t>
            </a:r>
          </a:p>
          <a:p>
            <a:r>
              <a:t>預判三類問題與跳頁策略：演算法細節→回 P4；數字換算→口述 P5 備註的算法(6×10×8 工時 vs 1 工時、量級估算非現場 benchmark)；AI 使用深度→切下一頁 BACKUP 決策日誌逐列講。</a:t>
            </a:r>
          </a:p>
          <a:p>
            <a:r>
              <a:t>誠實守則：效能絕對數字以 design.md／專案備忘為準；被問到沒把握的數字，答『量級估算』不要硬報精確值。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頁——不在 7 分鐘主線內，只在 Q&amp;A 被深問『哪些採用哪些否決、怎麼討論』時切過來逐列講。</a:t>
            </a:r>
          </a:p>
          <a:p>
            <a:r>
              <a:t>P7 決策帶只放 4 條精簡版；這張是完整 7 列表。</a:t>
            </a:r>
          </a:p>
          <a:p>
            <a:r>
              <a:t>字級：全簡報由 _setfont 強制 ≥12pt（MIN_PT），此表理由欄 12pt 兩行內收納。</a:t>
            </a:r>
          </a:p>
          <a:p>
            <a:r>
              <a:t>誠實：commit hash(77e8832/fffd30e/13f179f/9db06a6→c4df21d)、Decision 8、SEC-001 皆 repo 實證；17,482 / 6000 / 20000 球與時間數字來自 design.md／專案備忘的實測記述，非現場重跑。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83580" y="1421892"/>
            <a:ext cx="630936" cy="630936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95544" y="1133856"/>
            <a:ext cx="438912" cy="1165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95544" y="1133856"/>
            <a:ext cx="116586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224277"/>
            <a:ext cx="438912" cy="1165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5966" y="1901951"/>
            <a:ext cx="116586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框選一個形，找出所有同形——先進封裝 DXF 的幾何比對與設計規則檢查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24528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Frame-select one pattern, find every instance — geometry matching &amp; DRC for advanced packaging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236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236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480 →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952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等效人工工時 → 機器 1 小時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708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08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24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選定圖樣全 entity 覆蓋（vs 抽樣）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80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180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820,212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896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單張真實 DXF 實體數，秒級互動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295" y="320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痛點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驗證瓶頸：先進封裝設計檢查的痛點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Verification Bottleneck — why Conform exists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02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先進封裝後段驗證：一個漏檢的設計錯誤，可能造成基板重投、封裝組裝良率損失，甚至流到客戶端釀成客退——良率與可靠度的最後一道防線。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人力與時間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6 位資深工程師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× 超過 10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最貴的人力，綁在最低槓桿的重複量測上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9496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496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0392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0392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抽樣式驗證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缺陷會漏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0392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抽樣看不完 → 未覆蓋區就是漏檢風險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0352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0352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1248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授權瓶頸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1248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僅 4 套 AutoCAD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併發授權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1248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授權數＝驗證並行度上限，全隊迭代卡死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85232"/>
            <a:ext cx="11091672" cy="841248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28523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這三個瓶頸是結構性的，不是效率問題——加人、加班、買授權只能緩解、無法消除，得換驗證方式。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解法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解法：框選即查詢——從框選到規則報告的閉環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Frame-select → match → rule check, one closed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03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工程師在瀏覽器裡框選一個圖樣，系統即時找出全部同形、確認後入庫；範本庫隨使用累積，之後新圖一鍵全掃、直出報告。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① 上傳 DXF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前處理＋圖層過濾＋渲染</a:t>
            </a:r>
          </a:p>
        </p:txBody>
      </p:sp>
      <p:sp>
        <p:nvSpPr>
          <p:cNvPr id="19" name="Chevron 18"/>
          <p:cNvSpPr/>
          <p:nvPr/>
        </p:nvSpPr>
        <p:spPr>
          <a:xfrm>
            <a:off x="2547518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40126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31566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② 框選圖樣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9854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AutoCAD 式互動操作</a:t>
            </a:r>
          </a:p>
        </p:txBody>
      </p:sp>
      <p:sp>
        <p:nvSpPr>
          <p:cNvPr id="23" name="Chevron 22"/>
          <p:cNvSpPr/>
          <p:nvPr/>
        </p:nvSpPr>
        <p:spPr>
          <a:xfrm>
            <a:off x="4839004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31612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3052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③ 即時比對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1340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找出全部同形實例</a:t>
            </a:r>
          </a:p>
        </p:txBody>
      </p:sp>
      <p:sp>
        <p:nvSpPr>
          <p:cNvPr id="27" name="Chevron 26"/>
          <p:cNvSpPr/>
          <p:nvPr/>
        </p:nvSpPr>
        <p:spPr>
          <a:xfrm>
            <a:off x="7130491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23099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4539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④ 確認入庫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2827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範本庫隨使用累積</a:t>
            </a:r>
          </a:p>
        </p:txBody>
      </p:sp>
      <p:sp>
        <p:nvSpPr>
          <p:cNvPr id="31" name="Chevron 30"/>
          <p:cNvSpPr/>
          <p:nvPr/>
        </p:nvSpPr>
        <p:spPr>
          <a:xfrm>
            <a:off x="9421977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14585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6025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⑤ 規則檢查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4313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100+ 條自動判 pass/fail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02336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187952"/>
            <a:ext cx="109728" cy="131673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206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零學習成本　</a:t>
            </a:r>
            <a:r>
              <a:rPr sz="12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FAMILIAR UX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4645152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互動完全比照 AutoCAD：中鍵拖曳平移、左→右 window ／ 右→左 crossing 框選。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驗證工程師不需重新學一套工具，開瀏覽器就能上手。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91072" y="402336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4206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F L Y W H E E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46227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範本庫飛輪：越用越省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88289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每次確認的圖樣都累積進範本庫（現有 50+ 範本）；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新圖上傳後一鍵 scan-all 全範本掃描——第一張圖教過的，之後每張圖都自動會。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70448"/>
            <a:ext cx="11091672" cy="658368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870448"/>
            <a:ext cx="10424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閉環的關鍵在第③步「即時比對」——在 82 萬個實體裡找出全部同形，還要秒級回應。下一頁講怎麼辦到。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演算法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像找星系一樣，在圖海中找出每一個同形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Matching Engine &amp; its astronomy inspiration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04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56816"/>
            <a:ext cx="11064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閉環的第③步：在整張 DXF 裡找出框選圖樣的</a:t>
            </a:r>
            <a:r>
              <a:rPr sz="14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全部同形實例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。難點只有一個：</a:t>
            </a:r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規模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109728" cy="17373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5786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暴力解的代價　</a:t>
            </a:r>
            <a:r>
              <a:rPr sz="12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BRUTE FORCE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054096"/>
            <a:ext cx="4892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遍歷：每個 entity 都要兩兩比較 → O(N²)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但 pattern 最多由 </a:t>
            </a:r>
            <a:r>
              <a:rPr sz="1300" b="1" i="0">
                <a:solidFill>
                  <a:srgbClr val="16213A"/>
                </a:solidFill>
                <a:latin typeface="Menlo"/>
                <a:ea typeface="Menlo"/>
                <a:cs typeface="Menlo"/>
              </a:rPr>
              <a:t>k = 120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個 entity 組成，每個都要比 → 再 ×k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→ O(N²·k) 量級 ≈ </a:t>
            </a:r>
            <a:r>
              <a:rPr sz="1500" b="1" i="0">
                <a:solidFill>
                  <a:srgbClr val="C0395A"/>
                </a:solidFill>
                <a:latin typeface="Menlo"/>
                <a:ea typeface="Menlo"/>
                <a:cs typeface="Menlo"/>
              </a:rPr>
              <a:t>8.1 × 10¹³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次／模板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真實 DXF N ≈ 820,212；每次還要旋轉對位＋容差比對——遍歷根本跑不完。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5968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I N S P I R A T I O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靈感：天文學家怎麼找星系／星團／星雲？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91840"/>
            <a:ext cx="487375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不逐顆星互比（那是宇宙級 O(N²)）——而是：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①  </a:t>
            </a: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旋轉／縮放／平移都不變的幾何簽章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②  </a:t>
            </a: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空間索引快速定位候選天區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③  </a:t>
            </a: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只對倖存候選做精確比對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（同類思路：astrometry.net quad-hash、FoF 分群）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26864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把同一招搬到 DXF：</a:t>
            </a:r>
            <a:r>
              <a:rPr sz="13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同形圖樣 = 一個星座，整張圖 = 一片星空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幾何簽章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旋轉/鏡像/縮放不變</a:t>
            </a:r>
          </a:p>
        </p:txBody>
      </p:sp>
      <p:sp>
        <p:nvSpPr>
          <p:cNvPr id="28" name="Chevron 27"/>
          <p:cNvSpPr/>
          <p:nvPr/>
        </p:nvSpPr>
        <p:spPr>
          <a:xfrm>
            <a:off x="2573121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29153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02305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② cKDTree 空間索引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2305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O(log N) 鄰域</a:t>
            </a:r>
          </a:p>
        </p:txBody>
      </p:sp>
      <p:sp>
        <p:nvSpPr>
          <p:cNvPr id="32" name="Chevron 31"/>
          <p:cNvSpPr/>
          <p:nvPr/>
        </p:nvSpPr>
        <p:spPr>
          <a:xfrm>
            <a:off x="4853635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109667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2819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PCA 主軸對位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2819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sign-variant 擇優</a:t>
            </a:r>
          </a:p>
        </p:txBody>
      </p:sp>
      <p:sp>
        <p:nvSpPr>
          <p:cNvPr id="36" name="Chevron 35"/>
          <p:cNvSpPr/>
          <p:nvPr/>
        </p:nvSpPr>
        <p:spPr>
          <a:xfrm>
            <a:off x="7134148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9018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6333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④ 對稱 chamfer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6333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容差評分</a:t>
            </a:r>
          </a:p>
        </p:txBody>
      </p:sp>
      <p:sp>
        <p:nvSpPr>
          <p:cNvPr id="40" name="Chevron 39"/>
          <p:cNvSpPr/>
          <p:nvPr/>
        </p:nvSpPr>
        <p:spPr>
          <a:xfrm>
            <a:off x="9414662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670694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43846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inverted-index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3846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內含抑制→近線性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907024"/>
            <a:ext cx="11091672" cy="676656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5907024"/>
            <a:ext cx="10515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遍歷 brute-force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O(N²·k) ≈ 8.1×10¹³ 次／模板（k≤120）　→　單核估算約 數週～數月</a:t>
            </a:r>
          </a:p>
          <a:p>
            <a:pPr algn="l"/>
            <a:r>
              <a:rPr sz="12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尋形 Conform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簽章 gate ＋ cKDTree 空間索引剪枝到近線性　→　互動式秒級回應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成效 ★</a:t>
            </a:r>
            <a:r>
              <a:rPr sz="1200" b="1" i="0">
                <a:solidFill>
                  <a:srgbClr val="162039"/>
                </a:solidFill>
                <a:latin typeface="Menlo"/>
                <a:ea typeface="Menlo"/>
                <a:cs typeface="Menlo"/>
              </a:rPr>
              <a:t>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成效：6 人 10 天 → 1 人 1 小時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Results &amp; Impact — the core 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05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11091672" cy="1298448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103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V E R I F Y   O N E   D R A W I N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40864"/>
            <a:ext cx="6537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6 人 × 10 天</a:t>
            </a:r>
            <a:r>
              <a:rPr sz="2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→   </a:t>
            </a:r>
            <a:r>
              <a:rPr sz="26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1 人 × 1 小時</a:t>
            </a:r>
          </a:p>
          <a:p>
            <a:pPr algn="l"/>
            <a:r>
              <a:rPr sz="12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＝ 約 480 等效人工工時（6人×10天×8h）→ 約 1 小時機器運行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212848"/>
            <a:ext cx="3950208" cy="822960"/>
          </a:xfrm>
          <a:prstGeom prst="roundRect">
            <a:avLst>
              <a:gd name="adj" fmla="val 1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212848"/>
            <a:ext cx="3950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6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≈ 480 → 1</a:t>
            </a:r>
          </a:p>
          <a:p>
            <a:pPr algn="ctr"/>
            <a:r>
              <a:rPr sz="1200" b="0" i="0">
                <a:solidFill>
                  <a:srgbClr val="D7F0F6"/>
                </a:solidFill>
                <a:latin typeface="PingFang TC"/>
                <a:ea typeface="PingFang TC"/>
                <a:cs typeface="PingFang TC"/>
              </a:rPr>
              <a:t>人力投入約 1/480（工程師小時）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9300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93008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維度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493008"/>
            <a:ext cx="40233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B3C2"/>
                </a:solidFill>
                <a:latin typeface="PingFang TC"/>
                <a:ea typeface="PingFang TC"/>
                <a:cs typeface="PingFang TC"/>
              </a:rPr>
              <a:t>BEFORE（舊流程）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493008"/>
            <a:ext cx="4507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AFTER（尋形 Conform）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05072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4005072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0" y="4005072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05072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人力 / 工時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005072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6 位資深工程師 × 10 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005072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 位工程師 × 1 小時（含操作 + 100+ 條自動化條件檢查）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0" y="4663440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4663440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663440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663440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抽樣（缺陷會漏）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663440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100% 全 entity 全覆蓋 ＋ 100+ 條自動化檢查（架構保證）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321807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5321807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49440" y="5321807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321807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併發 / 吞吐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321807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4 套 AutoCAD 授權序列化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321807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多圖同時處理，不被單張圖卡住；零 AutoCAD 授權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6089904"/>
            <a:ext cx="6858000" cy="658368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089904"/>
            <a:ext cx="6492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「抽樣 → 選定圖樣 100% 全掃」是品質階躍——漏檢從機率，變成可量測的覆蓋率。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6089904"/>
            <a:ext cx="4050791" cy="658368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20" y="6089904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生產級規模｜真實 DXF 820,212 實體</a:t>
            </a:r>
          </a:p>
          <a:p>
            <a:pPr algn="l"/>
            <a:r>
              <a:rPr sz="120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內含抑制 20s → 8ms（實測）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理念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LLM 時代，怎麼做出「對」的產品？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Anyone can ship with an LLM — shipping the right thing is the hard part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B5CF6"/>
                </a:solidFill>
                <a:latin typeface="Menlo"/>
                <a:ea typeface="Menlo"/>
                <a:cs typeface="Menlo"/>
              </a:rPr>
              <a:t>06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LLM 把「寫程式」變便宜了，卻沒有把「做對產品」變便宜——需求、品質、AI 的發揮，仍然取決於工程紀律與工具。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42032"/>
            <a:ext cx="349605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109728" cy="268833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2816351"/>
            <a:ext cx="3038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Q1　真的符合需求嗎？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7" y="3383279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83279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規格先行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3968496"/>
            <a:ext cx="2947416" cy="1371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意圖先寫成 proposal / design，在紙上吵完再動手——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方向錯了在規格層修，成本是幾行字；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等 diff 出來才修，成本是整個功能重寫。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542032"/>
            <a:ext cx="349605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706624"/>
            <a:ext cx="109728" cy="2688336"/>
          </a:xfrm>
          <a:prstGeom prst="rect">
            <a:avLst/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9056" y="2816351"/>
            <a:ext cx="3038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Q2　品質怎麼確保？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39056" y="3383279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4776" y="3383279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流程強制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9056" y="3968496"/>
            <a:ext cx="2947416" cy="1371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品質不是宣稱，是閘門——機器驗證的能力契約、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605 個測試、真瀏覽器端到端驗證，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每一關不過就不能 merge。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4256" y="2542032"/>
            <a:ext cx="349605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44256" y="2706624"/>
            <a:ext cx="109728" cy="2688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6864" y="2816351"/>
            <a:ext cx="3038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Q3　怎麼讓 AI 表現更好？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6864" y="3383279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2584" y="3383279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給對工具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6864" y="3968496"/>
            <a:ext cx="2947416" cy="1371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codegraph 給它導航、playwright 給它眼睛、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skills 把流程固化成生產線——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AI 負責提案，工程判斷負責把關。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52160"/>
            <a:ext cx="11091672" cy="713232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52160"/>
            <a:ext cx="10424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這三個問題，就是接下來兩頁——尋形 Conform 的開發生產線與品質工程，全部圍繞它們設計。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開發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用 Claude Code 把開發變成生產線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Building Conform as a Claude Code Production 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B5CF6"/>
                </a:solidFill>
                <a:latin typeface="Menlo"/>
                <a:ea typeface="Menlo"/>
                <a:cs typeface="Menlo"/>
              </a:rPr>
              <a:t>07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人類意圖
spectra-propose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② codegraph 導航
search · impact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Claude 實作
編碼 + 自寫測試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7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④ playwright
開真瀏覽器截圖驗證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[USER] 機密 DXF
親驗｜信任邊界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⑥ spectra-archive
歸檔 + spec 同步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785615" y="2212848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488935" y="2212848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9436607" y="2706624"/>
            <a:ext cx="237744" cy="237744"/>
          </a:xfrm>
          <a:prstGeom prst="down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7488935" y="320040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ft Arrow 30"/>
          <p:cNvSpPr/>
          <p:nvPr/>
        </p:nvSpPr>
        <p:spPr>
          <a:xfrm>
            <a:off x="3785615" y="320040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2029968" y="2706624"/>
            <a:ext cx="237744" cy="237744"/>
          </a:xfrm>
          <a:prstGeom prst="up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8640" y="3803904"/>
            <a:ext cx="3611880" cy="384048"/>
          </a:xfrm>
          <a:prstGeom prst="roundRect">
            <a:avLst>
              <a:gd name="adj" fmla="val 5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803904"/>
            <a:ext cx="3520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MCP：codegraph · playwright · discord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3803904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3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3803904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Hooks：RTK 省 ~52% token · auto-sync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03904"/>
            <a:ext cx="3547872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3803904"/>
            <a:ext cx="34564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信任邊界：機密 DXF 不進 context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279392"/>
            <a:ext cx="11091672" cy="566928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279392"/>
            <a:ext cx="10652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Skills｜自建技能生態　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規格流 spectra-* ×12 · 測試 tdd · 審查 grill-me / diagnose / triage</a:t>
            </a:r>
          </a:p>
          <a:p>
            <a:pPr algn="l"/>
            <a:r>
              <a:rPr sz="12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規劃 to-prd / to-issues · 領域 add-rule · 雛型 prototype · 架構 improve-codebase-architecture 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937759"/>
            <a:ext cx="1109167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02919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AI 提案，工程判斷把關——每個採用都附一個被我否決的替代方案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413248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13248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394960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我否決 Claude 的「密度啟發式」，改採確定性互斥視圖規則——可重現、operator 看得懂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5600700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600700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582412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密度仲裁上線後產線 17,482 球整批誤判，我判定不追不可重現的 bug、整個子系統當死碼砍掉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788152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788152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被產線打臉再修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5769864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design 判 O(M²)「便宜」被 20k 球產線打臉到 20s+，我換 inverted index 近線性（6000 球 2.0s→8ms）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975604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5975604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0" y="5957316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Postgres／MinIO 遷移我寫好 ADR 但標「未實作」——_jobs 才是硬牆，無 HA 需求前不動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236207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55 archived + 34 active changes　·　10 capability specs　·　290 commits　·　兩個月（2026-05-13 起）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品質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程式品質 × 規格驅動工程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Code Quality × Spec-Driven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08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規格驅動：品質由流程強制，非口頭宣稱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27432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10 個機器驗證能力契約（SHALL + WHEN/THEN 場景）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2004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89 個 OpenSpec changes（55 archived + 34 active）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576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openspec validate --specs 為 pre-merge 閘門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114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每個 change 一分支、留書面決策與審計軌跡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工程硬證據（每條釘 file / test）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743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605 測試函式、測試 13.3k LOC &gt; 應用 12.9k LOC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181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倒排索引：含括抑制 O(N²) → 近線性（守 N=20000 &lt;2s）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493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AST 不變量測試：workers 永不讀 stale cache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8679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DRC envelope 嚴格驗證：壞輸出 → 大聲 400，不靜默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canvas.js ↔ Python 常數 drift-guard 測試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091672" cy="91440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M A T C H E 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937760"/>
            <a:ext cx="9326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PCA 主軸對位 + sign-variant 擇優 + 對稱 chamfer → 平移／旋轉／鏡像／±5% 縮放不變</a:t>
            </a:r>
          </a:p>
          <a:p>
            <a:pPr algn="l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三條「真實 bug 驅動」fast path（820,212 實體 DXF bucket-split、O(N²) 抑制爆 20s）——bug 驅動的演算法，不是紙上設計。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70448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870448"/>
            <a:ext cx="10515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規格驅動讓「不同意」變便宜——我們在 design.md 的 ## Decisions 吵完每個 Alternative，而不是等 diff 出來才回頭。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創新差異化與未來擴展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Differentiation &amp;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A8F5F"/>
                </a:solidFill>
                <a:latin typeface="Menlo"/>
                <a:ea typeface="Menlo"/>
                <a:cs typeface="Menlo"/>
              </a:rPr>
              <a:t>09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11091672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93392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vs 舊做法　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人工逐物件抽樣量測（AutoCAD 內手動）</a:t>
            </a:r>
            <a:r>
              <a:rPr sz="14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　→　</a:t>
            </a:r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框選 → 比對 → 規則檢查的閉環（class-agnostic 幾何引擎，非封裝寫死）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206240" y="3200400"/>
            <a:ext cx="868680" cy="111556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206240" y="3767328"/>
            <a:ext cx="868680" cy="548640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206240" y="4315968"/>
            <a:ext cx="868680" cy="1828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206240" y="4315968"/>
            <a:ext cx="868680" cy="585216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06240" y="4315968"/>
            <a:ext cx="868680" cy="1152144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965960" y="3657600"/>
            <a:ext cx="2286000" cy="1316736"/>
          </a:xfrm>
          <a:prstGeom prst="ellipse">
            <a:avLst/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85515" y="3963923"/>
            <a:ext cx="210312" cy="210312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9503" y="3867911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9503" y="3867911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45535" y="4231385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52977" y="4123943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0" y="4334255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幾何 → 規則引擎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2944368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4F4EC"/>
          </a:solidFill>
          <a:ln w="12700">
            <a:solidFill>
              <a:srgbClr val="2A8F5F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0952" y="2944368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 DXF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304495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7312" y="304495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已實作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4920" y="3511296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0952" y="3511296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PCB Gerber / ODB++　間距 DRC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51592" y="36118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97312" y="361188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4078224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30952" y="4078224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GDSII / OASIS　layout 圖樣列舉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51592" y="417880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97312" y="4178808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4645152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0952" y="4645152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photomask / MEMS　圖樣稽核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51592" y="474573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97312" y="4745736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74920" y="5212080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0952" y="5212080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interposer / RDL　軟板佈局檢查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51592" y="531266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97312" y="5312664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797296"/>
            <a:ext cx="11091672" cy="822960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797296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生產化進行中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MariaDB 多副本 · MinIO 物件儲存 · Keycloak SSO 三級權限 · 產品版本化 · 簽核存證（openspec 34 active changes）</a:t>
            </a:r>
          </a:p>
          <a:p>
            <a:pPr algn="l"/>
            <a:r>
              <a:rPr sz="12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通用定位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DRC 引擎為 adapter + 版本化 bundle → 可獨立出貨；「幾何→規則引擎」通用前端層，可餵任意 DRC 後端。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88736" y="143560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96712" y="1243584"/>
            <a:ext cx="292608" cy="77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96712" y="1243584"/>
            <a:ext cx="77724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08775" y="1970532"/>
            <a:ext cx="292608" cy="77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23659" y="1755648"/>
            <a:ext cx="77724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Q &amp;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6 人 × 10 天 → 1 人 × 1 小時　·　選定圖樣 100% 覆蓋　·　零 AutoCAD 授權依賴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60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60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演算法細節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48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簽章 gate / cKDTree / PCA 對位 → P4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2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992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數字怎麼算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480 工時換算與量級估算 → P5 備註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324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324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AI 怎麼用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採用／否決決策日誌 → 下一頁 BACKUP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1295" y="320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Q&amp;A · 3 MIN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附錄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採用／否決 決策日誌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AI-proposed / human-decided log（Q&amp;A backup）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5C6B8A"/>
                </a:solidFill>
                <a:latin typeface="Menlo"/>
                <a:ea typeface="Menlo"/>
                <a:cs typeface="Menlo"/>
              </a:rPr>
              <a:t>BACKUP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938528"/>
            <a:ext cx="11274552" cy="420624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938528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改進主題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1938528"/>
            <a:ext cx="18470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Claude 建議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1938528"/>
            <a:ext cx="11338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我的決定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05856" y="1938528"/>
            <a:ext cx="37947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我們怎麼討論／理由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65207" y="1938528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04872"/>
            <a:ext cx="1127455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404872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同半徑 BGA 球 vs 對位點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2404872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鄰域密度仲裁（自動推 pitch、鄰居數分類）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404872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05856" y="2404872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初期採用（無參數）；產線 17,482 球大陣列整批誤判成 Fiducial、合成案重現不出 → 不追不可重現的啟發式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207" y="2404872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改用視圖約束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953512"/>
            <a:ext cx="11274552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953512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替代分類規則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95728" y="2953512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互斥視圖判定（BGA=底視圖、Fiducial=頂視圖）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2953512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05856" y="2953512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確定性、operator 看得懂、免疫密度 edge case；明確否決「保留密度群當保險」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5207" y="2953512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上線穩定（77e8832）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502152"/>
            <a:ext cx="1127455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502152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失效仲裁子系統去留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95728" y="3502152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保留 arbitrate() 當未來骨架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3502152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改寫（YAGNI 刪）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5856" y="3502152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視圖約束讓 registry 清空、call site 全成 pass-through → 可達但無作用的死碼，直接刪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7" y="3502152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子系統移除（fffd30e）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050791"/>
            <a:ext cx="11274552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050791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含括重複比對抑制效能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5728" y="4050791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每類 pairwise 掃描，design 判 O(M²)「便宜」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4050791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採用後修正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05856" y="4050791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上線打臉：20k 球單這步 20s+ → 換 inverted handle-index（X 的超集必含 X 全部 handle），近線性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4050791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6000 球 2.0s→8ms（13f179f）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599431"/>
            <a:ext cx="1127455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599431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多 DXF 一角色的 view 維度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95728" y="4599431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引入 dxf_view enum，正交於設計角色（Decision 1-7）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4599431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05856" y="4599431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Decision 8 簡化轉向：使用者回饋主流程是一檔含 top/bottom/side region，分割軸未必對齊 → enum 是 over-fit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65207" y="4599431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全檔 multi，欄位 vestigial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148071"/>
            <a:ext cx="11274552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148071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基板比對策略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95728" y="5148071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新增 per-class match_strategy（chamfer/signature）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5148071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採用（取代被否決路徑）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05856" y="5148071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前案 per-class tolerance 已 revert（9db06a6→c4df21d）：tolerance 橋不過固定 ±20% pre-filter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65207" y="5148071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match_strategy 正式取代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5696711"/>
            <a:ext cx="1127455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696711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上傳上限 SEC-001 預檢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95728" y="5696711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加請求層 Content-Length 預檢，buffer 前拒絕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89120" y="5696711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05856" y="5696711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multipart 的 Content-Length 涵蓋整個 body 非單檔，FastAPI 無 per-part length；對內部信任使用者邊際價值低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65207" y="5696711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緩衝後 len() 為權威防線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6336791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336791"/>
            <a:ext cx="10908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主軸：「AI 提案，工程判斷把關——每個採用都附一個被我否決的替代方案」。錨點均經 git/reflog 核對；效能絕對數字以 design.md／專案備忘為準，非現場 benchmark。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